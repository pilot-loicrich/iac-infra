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8" r:id="rId19"/>
    <p:sldId id="259" r:id="rId5"/>
    <p:sldId id="260" r:id="rId6"/>
    <p:sldId id="261" r:id="rId7"/>
    <p:sldId id="262" r:id="rId8"/>
    <p:sldId id="269" r:id="rId20"/>
    <p:sldId id="263" r:id="rId9"/>
    <p:sldId id="270" r:id="rId21"/>
    <p:sldId id="264" r:id="rId10"/>
    <p:sldId id="265" r:id="rId11"/>
    <p:sldId id="266" r:id="rId12"/>
    <p:sldId id="271" r:id="rId2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800600"/>
            <a:ext cx="12192000" cy="20574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995306" y="-1028700"/>
            <a:ext cx="3047695" cy="3086100"/>
          </a:xfrm>
          <a:prstGeom prst="ellipse">
            <a:avLst/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2171" y="3429000"/>
            <a:ext cx="3656686" cy="3771900"/>
          </a:xfrm>
          <a:prstGeom prst="ellipse">
            <a:avLst/>
          </a:prstGeom>
          <a:solidFill>
            <a:srgbClr val="FFFFFF">
              <a:alpha val="6000"/>
            </a:srgbClr>
          </a:solidFill>
          <a:ln w="12700">
            <a:solidFill>
              <a:srgbClr val="FFFFFF">
                <a:alpha val="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905" y="82296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iac-infra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09905" y="205740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as Code — Administrateur Système DevOps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09905" y="3017520"/>
            <a:ext cx="1463040" cy="8229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09905" y="3223260"/>
            <a:ext cx="731337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C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RNCP 36061 — ASD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09905" y="5074920"/>
            <a:ext cx="609447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09905" y="5623560"/>
            <a:ext cx="853226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École IT d'Orléans  •  Formateur : Max Fauquemberg  •  Mai 2026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990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990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413455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413455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815230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815230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21700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1700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61878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61878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9020556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20556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0422331" y="6103620"/>
            <a:ext cx="1218895" cy="411480"/>
          </a:xfrm>
          <a:prstGeom prst="roundRect">
            <a:avLst>
              <a:gd name="adj" fmla="val 17778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0422331" y="6103620"/>
            <a:ext cx="121889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de la présentation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12064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8640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12064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IaC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2064" y="500634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500634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510966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48640" y="548640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84925" y="150876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150876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21501" y="161208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521501" y="198882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84925" y="267462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267462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21501" y="277794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S13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521501" y="315468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formateur résolus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84925" y="3840480"/>
            <a:ext cx="5338267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338621" y="3840480"/>
            <a:ext cx="146304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21501" y="3943807"/>
            <a:ext cx="524042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&amp; Démo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6521501" y="4320540"/>
            <a:ext cx="524042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REAC — Live demo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Contexte &amp; Problématique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Pourquoi ce projet 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11457432" cy="1234440"/>
          </a:xfrm>
          <a:prstGeom prst="roundRect">
            <a:avLst>
              <a:gd name="adj" fmla="val 7407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905" y="1577340"/>
            <a:ext cx="10970057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❝  Comment automatiser complètement le déploiement, la configuration et la supervision d'une infrastructure cloud-native en appliquant les principes DevOps tout en couvrant les 10 compétences du REAC ASD ?  ❞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  Formation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7375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Titre ASD RNCP 36061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École IT d'Orléans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 Blocs de compétences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205326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5326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💻  Contrainte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326941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Poste Windows 11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VM VirtualBox (pas serveur cloud)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Environnement local complet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044891" y="3017520"/>
            <a:ext cx="353507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044891" y="3017520"/>
            <a:ext cx="353507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  Objectif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66506" y="3840480"/>
            <a:ext cx="3290926" cy="2331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Infrastructure 100% automatisée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Chaîne DevOps complète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Documentation opérationnelle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Vue d'ensemble du système iac-infra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437790" cy="4937760"/>
          </a:xfrm>
          <a:prstGeom prst="roundRect">
            <a:avLst>
              <a:gd name="adj" fmla="val 3001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43779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IaC &amp; Config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233172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65760" y="356616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356616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rôles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65760" y="4800600"/>
            <a:ext cx="2193646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85000"/>
            </a:srgbClr>
          </a:solidFill>
          <a:ln w="12700">
            <a:solidFill>
              <a:srgbClr val="FFFFFF">
                <a:alpha val="60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4800600"/>
            <a:ext cx="2193646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681935" y="3566160"/>
            <a:ext cx="365760" cy="1371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81935" y="3291840"/>
            <a:ext cx="36576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3047695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695" y="1371600"/>
            <a:ext cx="268193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2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192.168.56.10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169310" y="240030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310" y="240030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:80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169310" y="363474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69310" y="363474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hardening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169310" y="4869180"/>
            <a:ext cx="2437790" cy="1028700"/>
          </a:xfrm>
          <a:prstGeom prst="roundRect">
            <a:avLst>
              <a:gd name="adj" fmla="val 5333"/>
            </a:avLst>
          </a:prstGeom>
          <a:solidFill>
            <a:srgbClr val="FFFFFF">
              <a:alpha val="9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169310" y="4869180"/>
            <a:ext cx="2437790" cy="10287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72871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216091" y="1371600"/>
            <a:ext cx="2681935" cy="4937760"/>
          </a:xfrm>
          <a:prstGeom prst="roundRect">
            <a:avLst>
              <a:gd name="adj" fmla="val 2728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16091" y="1371600"/>
            <a:ext cx="2681935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3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Kubernetes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38621" y="219456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38621" y="219456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38621" y="349758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38621" y="349758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PVC + Secret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338621" y="4800600"/>
            <a:ext cx="2437790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38621" y="4800600"/>
            <a:ext cx="243779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HPA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2-10 réplicas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898026" y="3291840"/>
            <a:ext cx="487375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385402" y="1371600"/>
            <a:ext cx="2559406" cy="4937760"/>
          </a:xfrm>
          <a:prstGeom prst="roundRect">
            <a:avLst>
              <a:gd name="adj" fmla="val 2858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385402" y="1371600"/>
            <a:ext cx="255940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COUCHE 4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9507017" y="219456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507017" y="219456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507017" y="349758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507017" y="349758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:3000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9507017" y="4800600"/>
            <a:ext cx="2316175" cy="1097280"/>
          </a:xfrm>
          <a:prstGeom prst="roundRect">
            <a:avLst>
              <a:gd name="adj" fmla="val 5000"/>
            </a:avLst>
          </a:prstGeom>
          <a:solidFill>
            <a:srgbClr val="FFFFFF">
              <a:alpha val="88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507017" y="4800600"/>
            <a:ext cx="23161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Discord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244145" y="6377940"/>
            <a:ext cx="11701577" cy="342900"/>
          </a:xfrm>
          <a:prstGeom prst="rect">
            <a:avLst/>
          </a:prstGeom>
          <a:solidFill>
            <a:srgbClr val="455A64"/>
          </a:solidFill>
          <a:ln w="12700">
            <a:solidFill>
              <a:srgbClr val="455A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637794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GitHub Actions  ·  Lint  →  Build + Push DockerHub  →  Validate K8s  (déclenché à chaque git push)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Infrastructure as Code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· Ansible · Terraform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📦  Vagrant + VirtualBox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6060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déclaratif versionné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2918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VM Ubuntu 22.04 LTS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9776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host-only 192.168.56.10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46634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commande : vagrant up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5349240"/>
            <a:ext cx="244145" cy="41148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Provisioner Ansible intégré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14406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⚙️  Ansible — 4 rôles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14406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265676" y="26060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3143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→ paquets de base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265676" y="32918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3143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→ UFW + SSH hardening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265676" y="39776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3143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monitoring → Docker + stack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265676" y="46634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3143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webapp → WordPress + MariaDB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265676" y="5349240"/>
            <a:ext cx="244145" cy="41148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3143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auto-start au boot via systemd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44891" y="1508760"/>
            <a:ext cx="3656686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🔧  Terraform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8044891" y="2400300"/>
            <a:ext cx="3656686" cy="39090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166506" y="26060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32266" y="26060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main.tf déclaratif HCL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8166506" y="32918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32266" y="32918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hosts.ini (inventaire Ansible)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166506" y="39776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532266" y="39776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Génère infra-info.txt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8166506" y="46634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32266" y="46634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Provider local + null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166506" y="5349240"/>
            <a:ext cx="244145" cy="4114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32266" y="5349240"/>
            <a:ext cx="3046781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terraform apply = infrastructure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44145" y="6377940"/>
            <a:ext cx="11457432" cy="41148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5760" y="6377940"/>
            <a:ext cx="1121420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   →   $ ansible-playbook ansible/playbook.yml   →   $ terraform apply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· Kubernetes · GitHub Actions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440180"/>
            <a:ext cx="536295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🐳  Docker Compose — WordPress + monitoring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4145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(image custom)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926080" y="226314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926080" y="226314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11 (base wordpress)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244145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4145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:9090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26080" y="315468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926080" y="315468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:3000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node-exporter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Métriques système :9100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926080" y="4046220"/>
            <a:ext cx="2559406" cy="754380"/>
          </a:xfrm>
          <a:prstGeom prst="roundRect">
            <a:avLst>
              <a:gd name="adj" fmla="val 7273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26080" y="4046220"/>
            <a:ext cx="255940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Alertes :9093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50331" y="1440180"/>
            <a:ext cx="6094476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☸️  Kubernetes — Manifests YAML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50331" y="2263140"/>
          <a:ext cx="6094476" cy="914400"/>
        </p:xfrm>
        <a:graphic>
          <a:graphicData uri="http://schemas.openxmlformats.org/drawingml/2006/table">
            <a:tbl>
              <a:tblPr/>
              <a:tblGrid>
                <a:gridCol w="1950415"/>
                <a:gridCol w="1950415"/>
                <a:gridCol w="2193646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Ressource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Valeur clé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148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réplicas · image DockerHub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NodePort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Port 30080 exposé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Deployment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PVC 1Gi · Secret base64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WordPress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2-10 réplicas · CPU 50%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244145" y="5006340"/>
            <a:ext cx="11701577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⚡  Pipeline CI/CD GitHub Actions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87375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87375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+ YAML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2925166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>
            <a:off x="3412541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3412541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buildx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multi-platform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5850331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6337706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337706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Hub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</a:t>
            </a:r>
            <a:endParaRPr lang="en-US" sz="900" dirty="0"/>
          </a:p>
        </p:txBody>
      </p:sp>
      <p:sp>
        <p:nvSpPr>
          <p:cNvPr id="34" name="Text 31"/>
          <p:cNvSpPr/>
          <p:nvPr/>
        </p:nvSpPr>
        <p:spPr>
          <a:xfrm>
            <a:off x="8775497" y="5897880"/>
            <a:ext cx="487375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565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9262872" y="5897880"/>
            <a:ext cx="2437790" cy="754380"/>
          </a:xfrm>
          <a:prstGeom prst="roundRect">
            <a:avLst>
              <a:gd name="adj" fmla="val 8485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262872" y="5897880"/>
            <a:ext cx="2437790" cy="7543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yamllint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manifests K8s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 &amp; Alerting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· Grafana · Alertmanager · Discord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36295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📊  Prometheus + Grafana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362956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233172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26314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scrape targets : prometheus · node-exporter · mysqld-exporter · alertmanager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81178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274320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règles d'alertes : HighCPUUsage · HighMemoryUsage · InstanceDown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29184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22326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PromQL CPU : 100 - (avg by(instance)(rate(node_cpu_seconds_total{mode="idle"}[2m])) * 100) &gt; 80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77190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70332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auto-provisionné : datasource + dashboard JSON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4251960"/>
            <a:ext cx="244145" cy="3429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183380"/>
            <a:ext cx="47539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: CPU % · RAM used · Uptime · réseau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850331" y="1508760"/>
            <a:ext cx="609447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🔔  Alertmanager → Discord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97286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7286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Règle déclenchée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(ex: InstanceDown)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1337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43590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3590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:9093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77641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889894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9894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Routage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 severity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239451" y="2331720"/>
            <a:ext cx="12161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55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361981" y="2331720"/>
            <a:ext cx="1340510" cy="96012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361981" y="2331720"/>
            <a:ext cx="134051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 🔔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0331" y="3429000"/>
            <a:ext cx="6094476" cy="150876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72861" y="3497580"/>
            <a:ext cx="5850331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alertmanager.yml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route: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receiver: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group_by: ['alertname','severity']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receivers: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 name: 'discord-webhook'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webhook_configs: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- url: 'https://discord.com/api/webhooks/...'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244145" y="5074920"/>
            <a:ext cx="11701577" cy="68580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5760" y="5074920"/>
            <a:ext cx="1145743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🐬  MariaDB 11 — base WordPress, identifiants via secret, exporter mysqld pour les métriques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44145" y="5829300"/>
            <a:ext cx="11701577" cy="8915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5829300"/>
            <a:ext cx="11457432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Base 'wordpress' creee automatiquement par MariaDB (variables MARIADB_*)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237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WordPress genere son propre schema a l'installation : wp_users, wp_posts, wp_options...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Corrections Sprint 13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 3 points identifiés par Max Fauquemberg → résolus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714500"/>
            <a:ext cx="487375" cy="1097280"/>
          </a:xfrm>
          <a:prstGeom prst="ellipse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71450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53135" y="150876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monitoring sur VM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53135" y="212598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974750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Ansible 'monitoring'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docker-compose.monitoring.yml manquant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provisioning absent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094476" y="212598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704381" y="212598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704381" y="212598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825996" y="240030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Rôle créé : tasks + files/monitoring.service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dans /opt/monitoring/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Systemd auto-start au boot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Datasource + dashboard auto-provisionné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244145" y="3360420"/>
            <a:ext cx="487375" cy="1097280"/>
          </a:xfrm>
          <a:prstGeom prst="ellipse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4145" y="336042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53135" y="315468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→ Discord end-to-end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853135" y="377190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3135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974750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prometheus.yml : alertmanager targets: []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 jamais rejoint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alertmanager.yml absent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 rejetait HTTP 403 (User-Agent)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094476" y="377190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704381" y="377190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4381" y="377190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825996" y="404622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Corrigé → targets: ['alertmanager:9093']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discord_relay.py (Python, port 9094)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webhook_configs → relay → Discord natif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User-Agent: DiscordBot → HTTP 204 ✅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5006340"/>
            <a:ext cx="487375" cy="109728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44145" y="5006340"/>
            <a:ext cx="48737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853135" y="4800600"/>
            <a:ext cx="110916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37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réelle déployée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53135" y="5417820"/>
            <a:ext cx="5241341" cy="89154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3135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❌  Avant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74750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Nginx vide (pas d'app réelle)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PostgreSQL de test uniquement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 boîte vide » (retour formateur)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094476" y="5417820"/>
            <a:ext cx="609905" cy="8915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Shape 32"/>
          <p:cNvSpPr/>
          <p:nvPr/>
        </p:nvSpPr>
        <p:spPr>
          <a:xfrm>
            <a:off x="6704381" y="5417820"/>
            <a:ext cx="5241341" cy="89154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04381" y="5417820"/>
            <a:ext cx="146304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✅  Après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825996" y="5692140"/>
            <a:ext cx="4997196" cy="6172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WordPress déployé (Docker + K8s)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MariaDB + image WordPress durcie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Haute dispo : 2 réplicas + HPA + PVC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via mysqld-exporter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Résultats — 10 / 10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Tous les blocs de compétences validés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65760" y="1508760"/>
            <a:ext cx="2681935" cy="3771900"/>
          </a:xfrm>
          <a:prstGeom prst="ellipse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508760"/>
            <a:ext cx="2681935" cy="3771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3000" dirty="0"/>
          </a:p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 10</a:t>
            </a:r>
            <a:endParaRPr lang="en-US" sz="3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90926" y="1508760"/>
          <a:ext cx="8653882" cy="914400"/>
        </p:xfrm>
        <a:graphic>
          <a:graphicData uri="http://schemas.openxmlformats.org/drawingml/2006/table">
            <a:tbl>
              <a:tblPr/>
              <a:tblGrid>
                <a:gridCol w="974750"/>
                <a:gridCol w="3047695"/>
                <a:gridCol w="1218895"/>
                <a:gridCol w="3412541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Compétence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Preuve principale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7D3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Provisionner VM avec Vagrant+Ansible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vagrant up → VM prete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Multi-roles Ansible (common/security/monitoring)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ansible/roles/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génère inventaire Ansible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terraform apply → hosts.ini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BC01-CP4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Git versionné + Conventional Commits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sprints sur GitHub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Dockerfile + docker-compose multi-services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services orchestrés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Kubernetes Deployment+PVC+Secret+HPA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kubectl apply -f kubernetes/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BC02-CP3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Pipeline CI/CD GitHub Actions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jobs : lint→build→validate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Prometheus+Grafana métriques+dashboard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Auto-provisionné au démarrage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Alertmanager + discord_relay.py → Discord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HTTP 204 confirmé end-to-end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BC03-CP3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MariaDB + PVC persistant (WordPress)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wordpress auto-initialisée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38100" marB="3810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→ Compétences REAC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Chaque partie du projet coche une compétence du titre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371600"/>
            <a:ext cx="29251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Partie du projet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0926" y="1371600"/>
            <a:ext cx="4144061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 REAC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57516" y="1371600"/>
            <a:ext cx="438820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Livrable / Preuve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4145" y="185166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449" y="185166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7025" y="18516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+ Ansible (3 rôles)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290926" y="185166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52190" y="18516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BC01-CP1 — Automatiser le provisioning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557516" y="185166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618781" y="18516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up → VM Ubuntu opérationnelle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244145" y="233172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0449" y="233172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7025" y="23317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 roles + Terraform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290926" y="233172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2190" y="23317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BC01-CP2 — Infrastructure as Code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7557516" y="233172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18781" y="23317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ansible/roles/ + terraform apply → hosts.ini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44145" y="281178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0449" y="281178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7025" y="28117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UFW + SSH hardening + K8s Secrets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90926" y="281178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2190" y="28117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BC01-CP3 — Sécuriser l'infrastructure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557516" y="281178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18781" y="28117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PermitRootLogin no · deny all UFW · .gitignore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44145" y="3291840"/>
            <a:ext cx="146304" cy="445313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90449" y="329184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27025" y="32918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 + Kubernetes manifests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290926" y="329184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352190" y="32918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BC01-CP4 — Mettre en production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7557516" y="329184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618781" y="32918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Vagrantfile versionné + kubectl apply -f kubernetes/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44145" y="377190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90449" y="377190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7025" y="37719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(6 services)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290926" y="377190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352190" y="37719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BC02-CP1 — Environnement de test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557516" y="377190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618781" y="37719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 compose up -d → 6 conteneurs UP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244145" y="425196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90449" y="425196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27025" y="425196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MariaDB + PVC wp-content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3290926" y="425196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52190" y="425196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BC02-CP2 — Stockage persistant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557516" y="425196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618781" y="425196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PVC 1Gi · INSERT ON CONFLICT DO NOTHING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244145" y="473202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90449" y="473202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27025" y="473202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Dockerfile + image Docker Hub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3290926" y="473202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352190" y="473202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BC02-CP3 — Conteneuriser l'application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557516" y="473202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618781" y="473202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lnanzotonlieu/iac-wordpress:latest sur Docker Hub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244145" y="5212080"/>
            <a:ext cx="146304" cy="445313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90449" y="521208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27025" y="521208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(lint→build→validate)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3290926" y="521208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3352190" y="521208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4A14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BC02-CP4 — Pipeline CI/CD</a:t>
            </a:r>
            <a:endParaRPr lang="en-US" sz="900" dirty="0"/>
          </a:p>
        </p:txBody>
      </p:sp>
      <p:sp>
        <p:nvSpPr>
          <p:cNvPr id="67" name="Shape 65"/>
          <p:cNvSpPr/>
          <p:nvPr/>
        </p:nvSpPr>
        <p:spPr>
          <a:xfrm>
            <a:off x="7557516" y="521208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618781" y="521208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jobs séquentiels · déclenché à chaque push</a:t>
            </a:r>
            <a:endParaRPr lang="en-US" sz="900" dirty="0"/>
          </a:p>
        </p:txBody>
      </p:sp>
      <p:sp>
        <p:nvSpPr>
          <p:cNvPr id="69" name="Shape 67"/>
          <p:cNvSpPr/>
          <p:nvPr/>
        </p:nvSpPr>
        <p:spPr>
          <a:xfrm>
            <a:off x="244145" y="569214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390449" y="5692140"/>
            <a:ext cx="2778862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7025" y="569214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Prometheus + alerts.yml (3 alertes)</a:t>
            </a:r>
            <a:endParaRPr lang="en-US" sz="900" dirty="0"/>
          </a:p>
        </p:txBody>
      </p:sp>
      <p:sp>
        <p:nvSpPr>
          <p:cNvPr id="72" name="Shape 70"/>
          <p:cNvSpPr/>
          <p:nvPr/>
        </p:nvSpPr>
        <p:spPr>
          <a:xfrm>
            <a:off x="3290926" y="5692140"/>
            <a:ext cx="4144061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352190" y="569214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BC03-CP1 — Définir les KPIs / alertes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7557516" y="5692140"/>
            <a:ext cx="4388206" cy="445313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7618781" y="569214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HighCPU · HighMemory · InstanceDown en PromQL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244145" y="6172200"/>
            <a:ext cx="146304" cy="445313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90449" y="6172200"/>
            <a:ext cx="2778862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27025" y="6172200"/>
            <a:ext cx="2681021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Grafana + Alertmanager + discord_relay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3290926" y="6172200"/>
            <a:ext cx="4144061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352190" y="6172200"/>
            <a:ext cx="4022446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BC03-CP2 — Superviser les services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7557516" y="6172200"/>
            <a:ext cx="4388206" cy="445313"/>
          </a:xfrm>
          <a:prstGeom prst="rect">
            <a:avLst/>
          </a:prstGeom>
          <a:solidFill>
            <a:srgbClr val="F0F4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618781" y="6172200"/>
            <a:ext cx="4266590" cy="445313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 auto · Discord HTTP 204 confirmé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24414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24414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BC01 — IaC &amp; Infra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144975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144975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BC02 — Conteneurs &amp; CI/CD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8045806" y="6583680"/>
            <a:ext cx="3656686" cy="274320"/>
          </a:xfrm>
          <a:prstGeom prst="roundRect">
            <a:avLst>
              <a:gd name="adj" fmla="val 16667"/>
            </a:avLst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45806" y="6583680"/>
            <a:ext cx="365668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BC03 — Supervision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34440"/>
            <a:ext cx="12192000" cy="103327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44145" y="137160"/>
            <a:ext cx="975116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Démonstration Live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244145" y="685800"/>
            <a:ext cx="975116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Séquence de commandes — prêt à l'emploi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4145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VM + Ansible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244145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vagrant up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ansible-playbook ansible/playbook.yml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http://192.168.56.10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17006" y="15087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Docker Compose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006" y="21945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8621" y="23317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up -d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38621" y="28117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ps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38621" y="32918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http://localhost:8080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44145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Kubernetes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4145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5760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apply -f kubernetes/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5760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pods,svc,hpa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65760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kubectl get pvc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006" y="3909060"/>
            <a:ext cx="5728716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Monitoring + Discord ✅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217006" y="4594860"/>
            <a:ext cx="5728716" cy="1577340"/>
          </a:xfrm>
          <a:prstGeom prst="rect">
            <a:avLst/>
          </a:prstGeom>
          <a:solidFill>
            <a:srgbClr val="1E2A3A"/>
          </a:solidFill>
          <a:ln w="12700">
            <a:solidFill>
              <a:srgbClr val="1E2A3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38621" y="473202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Grafana : http://localhost:3000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338621" y="521208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stop node-exporter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338621" y="5692140"/>
            <a:ext cx="5484571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# → Discord : alerte reçue (HTTP 204) 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44145" y="6446520"/>
            <a:ext cx="11701577" cy="34290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5760" y="6446520"/>
            <a:ext cx="11457432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D9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docker compose exec db sh -c 'mysql -uroot -p... -e "SHOW TABLES" wordpress'   →  tables WordPress ✅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457700"/>
            <a:ext cx="12192000" cy="240030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751162" y="-685800"/>
            <a:ext cx="3412541" cy="3429000"/>
          </a:xfrm>
          <a:prstGeom prst="ellipse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FFFFF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09905" y="685800"/>
            <a:ext cx="10970057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Merci pour votre attention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609905" y="1920240"/>
            <a:ext cx="1827886" cy="82296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905" y="219456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12598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10 compétences REAC ASD validées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09905" y="267462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260604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100% automatisée et reproductible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09905" y="315468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0861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CI/CD opérationnel — chaque commit est testé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9905" y="3634740"/>
            <a:ext cx="304495" cy="342900"/>
          </a:xfrm>
          <a:prstGeom prst="ellipse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97280" y="35661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Supervision complète avec alerting Discord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09905" y="4594860"/>
            <a:ext cx="7313371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Loïc NANZO TONLIEU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09905" y="514350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DEE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loicnanzo1@outlook.fr  |  06 34 38 98 55  |  Orléans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9905" y="5623560"/>
            <a:ext cx="8532266" cy="4800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AADD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github.com/pilot-loicrich/iac-infra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532266" y="4594860"/>
            <a:ext cx="3412541" cy="1714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?</a:t>
            </a:r>
            <a:endParaRPr lang="en-US" sz="2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Démarche &amp; méthodologie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sprints · Git · Conventional Commits · qualité automatisée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 version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Git + GitHub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Conventional Commits (feat / fix / docs)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Branches + Pull Requests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Développement itératif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14 sprints successifs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Bilans hebdomadaires avec le formateur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Corrections intégrées sprint après sprint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Qualité automatisée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yamllint + terraform validate en CI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Scan de sécurité Trivy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Validation à chaque git push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continue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README détaillé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Dossier Projet + schéma d architecture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Tout versionné sur GitHub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— défense en profondeur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 système aux secrets, à chaque couche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Réseau &amp; système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UFW : politique deny par défaut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Ports ouverts : 22 / 80 / 443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SSH hardening : PermitRootLogin no, PasswordAuth no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 des secrets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.env gitignoré (jamais commité)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Ansible Vault / Secret K8s injecté hors dépôt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Webhook Discord révoqué après fuite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Image durcie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Image WordPress custom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DISALLOW_FILE_EDIT activé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Utilisateur non-root (cf. dropshop)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Sécurité dans la CI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Scan Trivy (manifests + Dockerfile)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Aucun secret dans le code versionné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.env.example sans valeur réelle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E65100"/>
          </a:solidFill>
          <a:ln w="12700">
            <a:solidFill>
              <a:srgbClr val="E65100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Difficultés techniques résolues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Diagnostiquer, comprendre, corriger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7734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64592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9" name="T9"/>
          <p:cNvSpPr/>
          <p:nvPr/>
        </p:nvSpPr>
        <p:spPr>
          <a:xfrm>
            <a:off x="365760" y="205740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 « boîte vide » (retour formateur)</a:t>
            </a:r>
          </a:p>
        </p:txBody>
      </p:sp>
      <p:sp>
        <p:nvSpPr>
          <p:cNvPr id="10" name="T10"/>
          <p:cNvSpPr/>
          <p:nvPr/>
        </p:nvSpPr>
        <p:spPr>
          <a:xfrm>
            <a:off x="5852160" y="157734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11" name="S11"/>
          <p:cNvSpPr/>
          <p:nvPr/>
        </p:nvSpPr>
        <p:spPr>
          <a:xfrm>
            <a:off x="6461760" y="157734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583680" y="164592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13" name="T13"/>
          <p:cNvSpPr/>
          <p:nvPr/>
        </p:nvSpPr>
        <p:spPr>
          <a:xfrm>
            <a:off x="6583680" y="205740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Déploiement WordPress réel : HA (2 réplicas), image durcie, MariaDB</a:t>
            </a:r>
          </a:p>
        </p:txBody>
      </p:sp>
      <p:sp>
        <p:nvSpPr>
          <p:cNvPr id="14" name="S14"/>
          <p:cNvSpPr/>
          <p:nvPr/>
        </p:nvSpPr>
        <p:spPr>
          <a:xfrm>
            <a:off x="243840" y="322326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15" name="T15"/>
          <p:cNvSpPr/>
          <p:nvPr/>
        </p:nvSpPr>
        <p:spPr>
          <a:xfrm>
            <a:off x="365760" y="329184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16" name="T16"/>
          <p:cNvSpPr/>
          <p:nvPr/>
        </p:nvSpPr>
        <p:spPr>
          <a:xfrm>
            <a:off x="365760" y="370332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Alerte Discord muette — HTTP 403</a:t>
            </a:r>
          </a:p>
        </p:txBody>
      </p:sp>
      <p:sp>
        <p:nvSpPr>
          <p:cNvPr id="17" name="T17"/>
          <p:cNvSpPr/>
          <p:nvPr/>
        </p:nvSpPr>
        <p:spPr>
          <a:xfrm>
            <a:off x="5852160" y="322326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18" name="S18"/>
          <p:cNvSpPr/>
          <p:nvPr/>
        </p:nvSpPr>
        <p:spPr>
          <a:xfrm>
            <a:off x="6461760" y="322326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19" name="T19"/>
          <p:cNvSpPr/>
          <p:nvPr/>
        </p:nvSpPr>
        <p:spPr>
          <a:xfrm>
            <a:off x="6583680" y="329184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20" name="T20"/>
          <p:cNvSpPr/>
          <p:nvPr/>
        </p:nvSpPr>
        <p:spPr>
          <a:xfrm>
            <a:off x="6583680" y="370332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: User-Agent manquant -&gt; relay Python -&gt; HTTP 204</a:t>
            </a:r>
          </a:p>
        </p:txBody>
      </p:sp>
      <p:sp>
        <p:nvSpPr>
          <p:cNvPr id="21" name="S21"/>
          <p:cNvSpPr/>
          <p:nvPr/>
        </p:nvSpPr>
        <p:spPr>
          <a:xfrm>
            <a:off x="243840" y="4869180"/>
            <a:ext cx="5486400" cy="1508760"/>
          </a:xfrm>
          <a:prstGeom prst="rect">
            <a:avLst/>
          </a:prstGeom>
          <a:solidFill>
            <a:srgbClr val="FFF3E0"/>
          </a:solidFill>
          <a:ln w="12700">
            <a:solidFill>
              <a:srgbClr val="FFCCAA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365760" y="493776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E65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PROBLÈME</a:t>
            </a:r>
          </a:p>
        </p:txBody>
      </p:sp>
      <p:sp>
        <p:nvSpPr>
          <p:cNvPr id="23" name="T23"/>
          <p:cNvSpPr/>
          <p:nvPr/>
        </p:nvSpPr>
        <p:spPr>
          <a:xfrm>
            <a:off x="365760" y="534924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663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 en échec (fichier systemd dans Ansible)</a:t>
            </a:r>
          </a:p>
        </p:txBody>
      </p:sp>
      <p:sp>
        <p:nvSpPr>
          <p:cNvPr id="24" name="T24"/>
          <p:cNvSpPr/>
          <p:nvPr/>
        </p:nvSpPr>
        <p:spPr>
          <a:xfrm>
            <a:off x="5852160" y="4869180"/>
            <a:ext cx="48768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fr-FR" sz="18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-&gt;</a:t>
            </a:r>
          </a:p>
        </p:txBody>
      </p:sp>
      <p:sp>
        <p:nvSpPr>
          <p:cNvPr id="25" name="S25"/>
          <p:cNvSpPr/>
          <p:nvPr/>
        </p:nvSpPr>
        <p:spPr>
          <a:xfrm>
            <a:off x="6461760" y="4869180"/>
            <a:ext cx="5486400" cy="1508760"/>
          </a:xfrm>
          <a:prstGeom prst="rect">
            <a:avLst/>
          </a:prstGeom>
          <a:solidFill>
            <a:srgbClr val="E8F5E9"/>
          </a:solidFill>
          <a:ln w="12700">
            <a:solidFill>
              <a:srgbClr val="AADDAA"/>
            </a:solidFill>
            <a:prstDash val="solid"/>
          </a:ln>
        </p:spPr>
      </p:sp>
      <p:sp>
        <p:nvSpPr>
          <p:cNvPr id="26" name="T26"/>
          <p:cNvSpPr/>
          <p:nvPr/>
        </p:nvSpPr>
        <p:spPr>
          <a:xfrm>
            <a:off x="6583680" y="4937760"/>
            <a:ext cx="524256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900" b="1" dirty="0">
                <a:solidFill>
                  <a:srgbClr val="2E7D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SOLUTION</a:t>
            </a:r>
          </a:p>
        </p:txBody>
      </p:sp>
      <p:sp>
        <p:nvSpPr>
          <p:cNvPr id="27" name="T27"/>
          <p:cNvSpPr/>
          <p:nvPr/>
        </p:nvSpPr>
        <p:spPr>
          <a:xfrm>
            <a:off x="6583680" y="5349240"/>
            <a:ext cx="5242560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1A3D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Extraction du fichier + configuration .yamllint adaptée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5F5"/>
          </a:solidFill>
          <a:ln w="12700">
            <a:solidFill>
              <a:srgbClr val="F5F5F5"/>
            </a:solidFill>
            <a:prstDash val="solid"/>
          </a:ln>
        </p:spPr>
      </p:sp>
      <p:sp>
        <p:nvSpPr>
          <p:cNvPr id="3" name="S3"/>
          <p:cNvSpPr/>
          <p:nvPr/>
        </p:nvSpPr>
        <p:spPr>
          <a:xfrm>
            <a:off x="0" y="0"/>
            <a:ext cx="12192000" cy="123444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</p:sp>
      <p:sp>
        <p:nvSpPr>
          <p:cNvPr id="4" name="S4"/>
          <p:cNvSpPr/>
          <p:nvPr/>
        </p:nvSpPr>
        <p:spPr>
          <a:xfrm>
            <a:off x="0" y="1234440"/>
            <a:ext cx="12192000" cy="10287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5" name="T5"/>
          <p:cNvSpPr/>
          <p:nvPr/>
        </p:nvSpPr>
        <p:spPr>
          <a:xfrm>
            <a:off x="243840" y="137160"/>
            <a:ext cx="975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&amp; compétences transverses</a:t>
            </a:r>
          </a:p>
        </p:txBody>
      </p:sp>
      <p:sp>
        <p:nvSpPr>
          <p:cNvPr id="6" name="T6"/>
          <p:cNvSpPr/>
          <p:nvPr/>
        </p:nvSpPr>
        <p:spPr>
          <a:xfrm>
            <a:off x="243840" y="685800"/>
            <a:ext cx="9753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300" i="1" dirty="0">
                <a:solidFill>
                  <a:srgbClr val="AAC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Au-delà de la technique pure</a:t>
            </a:r>
          </a:p>
        </p:txBody>
      </p:sp>
      <p:sp>
        <p:nvSpPr>
          <p:cNvPr id="7" name="S7"/>
          <p:cNvSpPr/>
          <p:nvPr/>
        </p:nvSpPr>
        <p:spPr>
          <a:xfrm>
            <a:off x="243840" y="1508760"/>
            <a:ext cx="5730240" cy="617220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</p:sp>
      <p:sp>
        <p:nvSpPr>
          <p:cNvPr id="8" name="T8"/>
          <p:cNvSpPr/>
          <p:nvPr/>
        </p:nvSpPr>
        <p:spPr>
          <a:xfrm>
            <a:off x="36576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Anglais technique (BC03-CP3)</a:t>
            </a:r>
          </a:p>
        </p:txBody>
      </p:sp>
      <p:sp>
        <p:nvSpPr>
          <p:cNvPr id="9" name="S9"/>
          <p:cNvSpPr/>
          <p:nvPr/>
        </p:nvSpPr>
        <p:spPr>
          <a:xfrm>
            <a:off x="24384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0" name="T10"/>
          <p:cNvSpPr/>
          <p:nvPr/>
        </p:nvSpPr>
        <p:spPr>
          <a:xfrm>
            <a:off x="36576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Commits, code et CI en anglais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Lecture de la doc officielle en anglais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Vocabulaire DevOps maîtrisé</a:t>
            </a:r>
          </a:p>
        </p:txBody>
      </p:sp>
      <p:sp>
        <p:nvSpPr>
          <p:cNvPr id="11" name="S11"/>
          <p:cNvSpPr/>
          <p:nvPr/>
        </p:nvSpPr>
        <p:spPr>
          <a:xfrm>
            <a:off x="6217920" y="1508760"/>
            <a:ext cx="5730240" cy="617220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</p:sp>
      <p:sp>
        <p:nvSpPr>
          <p:cNvPr id="12" name="T12"/>
          <p:cNvSpPr/>
          <p:nvPr/>
        </p:nvSpPr>
        <p:spPr>
          <a:xfrm>
            <a:off x="6339840" y="150876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Veille technologique</a:t>
            </a:r>
          </a:p>
        </p:txBody>
      </p:sp>
      <p:sp>
        <p:nvSpPr>
          <p:cNvPr id="13" name="S13"/>
          <p:cNvSpPr/>
          <p:nvPr/>
        </p:nvSpPr>
        <p:spPr>
          <a:xfrm>
            <a:off x="6217920" y="212598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4" name="T14"/>
          <p:cNvSpPr/>
          <p:nvPr/>
        </p:nvSpPr>
        <p:spPr>
          <a:xfrm>
            <a:off x="6339840" y="222885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Doc Prometheus, Kubernetes, Ansible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Bonnes pratiques DevOps / sécurité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Suivi des versions (MariaDB 11, etc.)</a:t>
            </a:r>
          </a:p>
        </p:txBody>
      </p:sp>
      <p:sp>
        <p:nvSpPr>
          <p:cNvPr id="15" name="S15"/>
          <p:cNvSpPr/>
          <p:nvPr/>
        </p:nvSpPr>
        <p:spPr>
          <a:xfrm>
            <a:off x="243840" y="4114800"/>
            <a:ext cx="5730240" cy="61722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</p:sp>
      <p:sp>
        <p:nvSpPr>
          <p:cNvPr id="16" name="T16"/>
          <p:cNvSpPr/>
          <p:nvPr/>
        </p:nvSpPr>
        <p:spPr>
          <a:xfrm>
            <a:off x="36576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Compétences réutilisées</a:t>
            </a:r>
          </a:p>
        </p:txBody>
      </p:sp>
      <p:sp>
        <p:nvSpPr>
          <p:cNvPr id="17" name="S17"/>
          <p:cNvSpPr/>
          <p:nvPr/>
        </p:nvSpPr>
        <p:spPr>
          <a:xfrm>
            <a:off x="24384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18" name="T18"/>
          <p:cNvSpPr/>
          <p:nvPr/>
        </p:nvSpPr>
        <p:spPr>
          <a:xfrm>
            <a:off x="36576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dropshop : déploiement AWS ECS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chatbot-rag : CI/CD GitLab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avance-web : déploiement continu Vercel</a:t>
            </a:r>
          </a:p>
        </p:txBody>
      </p:sp>
      <p:sp>
        <p:nvSpPr>
          <p:cNvPr id="19" name="S19"/>
          <p:cNvSpPr/>
          <p:nvPr/>
        </p:nvSpPr>
        <p:spPr>
          <a:xfrm>
            <a:off x="6217920" y="4114800"/>
            <a:ext cx="5730240" cy="617220"/>
          </a:xfrm>
          <a:prstGeom prst="rect">
            <a:avLst/>
          </a:prstGeom>
          <a:solidFill>
            <a:srgbClr val="2E7D32"/>
          </a:solidFill>
          <a:ln w="12700">
            <a:solidFill>
              <a:srgbClr val="2E7D32"/>
            </a:solidFill>
            <a:prstDash val="solid"/>
          </a:ln>
        </p:spPr>
      </p:sp>
      <p:sp>
        <p:nvSpPr>
          <p:cNvPr id="20" name="T20"/>
          <p:cNvSpPr/>
          <p:nvPr/>
        </p:nvSpPr>
        <p:spPr>
          <a:xfrm>
            <a:off x="6339840" y="4114800"/>
            <a:ext cx="5486400" cy="6172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fr-FR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Posture professionnelle</a:t>
            </a:r>
          </a:p>
        </p:txBody>
      </p:sp>
      <p:sp>
        <p:nvSpPr>
          <p:cNvPr id="21" name="S21"/>
          <p:cNvSpPr/>
          <p:nvPr/>
        </p:nvSpPr>
        <p:spPr>
          <a:xfrm>
            <a:off x="6217920" y="4732020"/>
            <a:ext cx="573024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22" name="T22"/>
          <p:cNvSpPr/>
          <p:nvPr/>
        </p:nvSpPr>
        <p:spPr>
          <a:xfrm>
            <a:off x="6339840" y="4834890"/>
            <a:ext cx="5486400" cy="15773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Autonomie et résolution de problèmes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Prise en compte des retours formateur</a:t>
            </a:r>
          </a:p>
          <a:p>
            <a:pPr indent="0" marL="0">
              <a:buNone/>
            </a:pPr>
            <a:r>
              <a:rPr lang="fr-FR" sz="10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Capacité à expliquer chaque ligne livrée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Soutenance ASD — iac-infra</dc:title>
  <dc:subject>ASD RNCP 36061 — iac-infra</dc:subject>
  <dc:creator>Loïc NANZO TONLIEU</dc:creator>
  <cp:lastModifiedBy>Loïc NANZO TONLIEU</cp:lastModifiedBy>
  <cp:revision>1</cp:revision>
  <dcterms:created xsi:type="dcterms:W3CDTF">2026-06-12T07:22:46Z</dcterms:created>
  <dcterms:modified xsi:type="dcterms:W3CDTF">2026-06-12T07:22:46Z</dcterms:modified>
</cp:coreProperties>
</file>